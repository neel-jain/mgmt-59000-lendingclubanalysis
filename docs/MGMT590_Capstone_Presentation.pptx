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3C"/>
                </a:solidFill>
                <a:latin typeface="Arial"/>
              </a:rPr>
              <a:t>Historical Default Rate by LendingClub Grade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0.06</c:v>
                </c:pt>
                <c:pt idx="1">
                  <c:v>0.11</c:v>
                </c:pt>
                <c:pt idx="2">
                  <c:v>0.18</c:v>
                </c:pt>
                <c:pt idx="3">
                  <c:v>0.27</c:v>
                </c:pt>
                <c:pt idx="4">
                  <c:v>0.35</c:v>
                </c:pt>
                <c:pt idx="5">
                  <c:v>0.44</c:v>
                </c:pt>
                <c:pt idx="6">
                  <c:v>0.56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5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3C"/>
                </a:solidFill>
                <a:latin typeface="Arial"/>
              </a:rPr>
              <a:t>Test-Set ROC-AUC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</c:v>
                </c:pt>
                <c:pt idx="1">
                  <c:v>0.74</c:v>
                </c:pt>
                <c:pt idx="2">
                  <c:v>0.79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12700" cap="flat">
              <a:solidFill>
                <a:srgbClr val="E1E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/ introduction. State your name and the one-sentence framing: 'This project builds a complete lending risk platform for LendingClub's Indiana borrowers -- not just a model, but a production-style application a lending executive could actually use.' Timing: 30 seconds. Keep it brief -- the story starts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plain business terms before touching any technical detail. The four cards preview the whole project's structure: score, explain, segment, act -- which map directly to Phases 3, 4A, 4B, and 5/6 of the project. Timing: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seven questions anchor every subsequent phase of the project -- EDA, the three supervised models, SHAP explainability, and segmentation all trace back to answering these. RQ7 (highlighted in red) is the one supervised learning alone can't answer -- that's the bridge to segmentation. Timing: 40 seconds -- don't read all seven aloud, just note the shape of the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the data precisely: Indiana only, a specific origination window, and a carefully defined binary target that excludes still-open loans to prevent mislabeling. This target definition is worth pausing on if asked -- it's a common data-leakage trap. Timing: 40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PDID is the thread connecting all seven phases -- it's why this feels like one coherent project rather than seven disconnected assignments. List the phases quickly; you'll go deeper on 3, 4A, 4B, and 5 in the next few slides. Timing: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is the single clearest visual validation that LendingClub's own grading system carries real signal (Research Question 2) -- worth calling out explicitly. All four bullets map directly back to specific research questions from Slide 3. Timing: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earns its place for a different reason -- this is the answer to 'why three models' before anyone has to ask it. Logistic Regression stays in production alongside XGBoost specifically for its interpretability, not just as a discarded baseline. Timing: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numbers are illustrative (this development environment ran against a small synthetic fixture, not the full 37,515-row dataset) -- say so plainly if asked, and note that re-running python -m src.train_models against the genuine data reproduces real numbers in the same tables. The METHODOLOGY -- why ROC-AUC, the full metric suite, the selection logic -- is real and unchanged regardless of which dataset produced the numbers. Timing: 50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was chosen because it has a rigorous game-theoretic foundation (Shapley values) and works consistently across both tree-based models (TreeExplainer, exact) and Logistic Regression (LinearExplainer, exact) -- one explainability framework for every model in the project. Every explanation also gets translated into a plain-language business summary before it reaches the dashboard. Timing: 40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names shown here are illustrative examples of the NAMING LOGIC, not a fixed guarantee -- the actual names that appear depend entirely on the real data's patterns. Emphasize the cross-check against supervised predictions -- that agreement is real validation, not just a nice visual. Timing: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 DEMO CUE] This is the natural point to switch to the live application. Walk through: Executive Dashboard (KPIs) -&gt; Borrower Risk Prediction (fill the form, click Predict, show the SHAP waterfall) -&gt; Borrower Segmentation (show a segment lookup) -&gt; a report download. See DEMO_SCRIPT.md for the full click-by-click walkthrough. Timing: 3-5 minutes for the live demo, separate from the slide's own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recommendation here traces back to a specific engine: pricing/routing come from RiskScoringEngine + configurable_thresholds.py; verification priority comes from ExplainabilityEngine's global importance; the dual-lens point comes from SegmentationEngine's cross-check against the supervised model. Timing: 40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limitations plainly and unprompted is itself a credibility signal for a faculty audience -- don't wait to be asked. Each of these is documented in full in QA_CHECKLIST.md and the About Project page inside the running dashboard. Timing: 40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honest, specific next steps documented in PERFORMANCE_REPORT.md and the About Project page -- not vague hand-waving. If a professor asks 'what would you do with two more weeks,' this slide is the answer. Timing: 35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questions. See FACULTY_QA.md for prepared answers to the most likely questions (why these three models, how overfitting/leakage were prevented, why SHAP, why clustering, production readiness). Timing: open-ended, budget 5+ minutes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43400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LendingClub Loan Default Risk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Analytics Platform for Indiana Borrowers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 •  Explainable AI  •  Borrower Segmentation  •  Executive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59000 — Business Analytics Capstone  |  Purdue University System  |  Summer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822960" cy="8229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is a bet on repayment.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1920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LendingClub originates carries a chance of default. Getting that risk assessment wrong in either direction is costly: approve too many risky borrowers and losses mount; decline too many good ones and revenue -- and customer trust -- walks away.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83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3708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each borrower's default probability accurately.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32004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3383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43708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WHY a borrower is risky, in plain business language.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383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43708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natural borrower groups for portfolio strategy.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69680" y="32004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3383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2B3C"/>
          </a:solidFill>
          <a:ln/>
        </p:spPr>
      </p:sp>
      <p:sp>
        <p:nvSpPr>
          <p:cNvPr id="27" name="Text 25"/>
          <p:cNvSpPr/>
          <p:nvPr/>
        </p:nvSpPr>
        <p:spPr>
          <a:xfrm>
            <a:off x="90068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0684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It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06840" y="43708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insight into a concrete lending recommendation.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Research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borrower characteristics associate with default?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542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LendingClub grades predict default?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58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7124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relate to higher interest rates?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88289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income relate to repayment success?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1371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DTI influence default?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0" y="258775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542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employment length matter?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375818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758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37124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borrower segments carry the highest risk?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37,515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Loans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645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Default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0" y="1645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2007–18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86968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Period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used by the model: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14600" y="393192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amount, interest rate, installment, income, DTI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98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14600" y="44988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delinquencies, public records, revolving balance/utilization, total accounts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657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14600" y="506577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home ownership, verification status, purpose, term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default_flag = 1 for Charged Off / Default, 0 for Fully Paid. Loans still in progress (Current, Late, Grace Period) are excluded to avoid mislabeling unresolved outcomes.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PDID, Applied Seven Times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777240" cy="7772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1805940"/>
            <a:ext cx="1417320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474720" y="141732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17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1805940"/>
            <a:ext cx="1417320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126480" y="141732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417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1805940"/>
            <a:ext cx="1417320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778240" y="1417320"/>
            <a:ext cx="777240" cy="7772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1417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0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states a Problem, examines the Data needed to address it, surfaces an Insight, and converts that insight into a business Decision -- not just a model artifact.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657600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4344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6576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Architecture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4344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6576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EDA &amp; Statistics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224528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4344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22452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Machine Learning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4224528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4344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22452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4A. Explainable AI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4791456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4344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79145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4B. Segmentation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4791456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4344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79145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Streamlit Dashboard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2960" y="5358384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4344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35838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Testing &amp; Deployment Prep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Highlights: Default Rate Climbs With Grade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22376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exploratory analysis showed: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2020824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6"/>
          <p:cNvSpPr/>
          <p:nvPr/>
        </p:nvSpPr>
        <p:spPr>
          <a:xfrm>
            <a:off x="7452360" y="18928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is a near-monotonic risk signal -- A is safest, G is riskiest.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23760" y="2798064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26700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and interest rate both correlate strongly with default.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223760" y="3575304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0"/>
          <p:cNvSpPr/>
          <p:nvPr/>
        </p:nvSpPr>
        <p:spPr>
          <a:xfrm>
            <a:off x="7452360" y="3447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shows a protective (negative) relationship with risk.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23760" y="4352544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2"/>
          <p:cNvSpPr/>
          <p:nvPr/>
        </p:nvSpPr>
        <p:spPr>
          <a:xfrm>
            <a:off x="7452360" y="42245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length matters less than commonly assumed.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Three Purposes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24344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783080"/>
            <a:ext cx="731520" cy="7315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Interpreter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52044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baseline. Coefficients convert directly to odds ratios a credit committee can defend.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24344A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78308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52044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interactions (e.g. DTI matters more when income is also low) with minimal tuning.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146304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24344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78308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381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381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352044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 for the strongest raw discrimination -- the production scoring model.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5236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ROC-AUC, not accuracy?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52360" y="19202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~20% default, predicting 'no default' for everyone already scores ~80% accuracy. ROC-AUC measures ranking quality across every threshold instead.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52360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suite computed for every model: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52360" y="3429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Specificity, F1, Balanced Accuracy, MCC, Log Loss, Brier Score, Calibration Error, Training Time, Prediction Latency.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8463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A2B3C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4846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selected as the production model.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AI: SHAP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alone doesn't satisfy a credit committee, a regulator, or a declined applicant. The ExplainabilityEngine answers “why” at two levels: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24344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044952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(beeswarm + bar)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3666744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547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plots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288536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41696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plots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910328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7914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interaction analysis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2194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24344A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(per borrower)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83680" y="304495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366674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547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plot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428853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1696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risk factors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491032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7914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protective factors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 Segmentation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answer “what is THIS borrower's risk?” Segmentation answers a different question: “what natural GROUPS of borrowers exist?”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3060" y="237744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54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Borrowers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21945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1980" y="237744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154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Borrowers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00900" y="237744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154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Debt Borrowers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21945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89820" y="23774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3154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Borrowers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assigned FROM THE DATA -- not assumed in advance: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on standardized financial features (income, DTI, interest rate, credit utilization); optimal cluster count chosen by combining silhouette score, Calinski-Harabasz, and Davies-Bouldin rankings. Each segment gets a full profile, a data-driven name, and concrete lending/marketing/portfolio recommendations -- then is cross-checked against the supervised model's predicted risk to confirm both methods agree.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Dashboard: Eight Pages, One Platform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434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3060" y="16916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16230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434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6260" y="16916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434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9460" y="16916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377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0" y="146304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434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52660" y="16916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98526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2377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Risk Prediction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434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23060" y="40690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16230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754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Segmentation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384048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434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6260" y="40690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43662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4754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384048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434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09460" y="40690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2" name="Text 30"/>
          <p:cNvSpPr/>
          <p:nvPr/>
        </p:nvSpPr>
        <p:spPr>
          <a:xfrm>
            <a:off x="71094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4754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69680" y="384048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434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52660" y="40690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6" name="Text 34"/>
          <p:cNvSpPr/>
          <p:nvPr/>
        </p:nvSpPr>
        <p:spPr>
          <a:xfrm>
            <a:off x="98526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06840" y="4754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Project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44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segment, not just grade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7099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segment membership alongside LendingClub grade to set rate adjustments and origination limits.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14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risk tier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880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-&gt; streamlined approval. High Risk -&gt; mandatory manual review. Configurable, not hardcoded.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58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6850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what matters most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0507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rate, DTI, and grade dominate risk -- prioritize verifying these fields at application time.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928616"/>
            <a:ext cx="502920" cy="502920"/>
          </a:xfrm>
          <a:prstGeom prst="ellipse">
            <a:avLst/>
          </a:prstGeom>
          <a:solidFill>
            <a:srgbClr val="1A2B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8554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lenses together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52212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prediction for individual decisions; segmentation for portfolio and marketing strategy.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legally protected class attributes in the data -- fairness assessment is limited to business/financial attribute parity, not protected classes.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128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Indiana-only scope -- findings may not generalize to other states without re-validation.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1868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5409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reflects past origination patterns, not subsequent economic shifts.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05993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953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configurable but require periodic human review, not an automated feedback loop.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90118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365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production-grade authentication -- current deployment guidance targets demo/portfolio use.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1887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Indiana Default Risk Platform  |  MGMT 59000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unemployment rate and interest-rate environment at origination.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drift monitoring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Retrain/re-validate the production model on a regular cadence, not manually.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scoring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three models' predictions rather than selecting a single production scorer.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1A2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optimal-k evaluation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617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SegmentationEngine's cluster-count search across cold starts for faster startup.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RiskScoringEngine  •  ExplainabilityEngine  •  SegmentationEngine  •  Streamlit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github.com/&lt;your-username&gt;/mgmt590-lendingclub-capstone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2026-08-02T18:51:21Z</dcterms:created>
  <dcterms:modified xsi:type="dcterms:W3CDTF">2026-08-02T18:51:21Z</dcterms:modified>
</cp:coreProperties>
</file>